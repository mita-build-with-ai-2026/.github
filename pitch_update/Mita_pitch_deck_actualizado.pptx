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914400"/>
            <a:ext cx="3886200" cy="3429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4173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731520" y="233172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</a:rPr>
              <a:t>Encuentra tu espacio con IA: vivir, trabajar, vender, almacenar u operar.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3886200"/>
            <a:ext cx="2697480" cy="347472"/>
          </a:xfrm>
          <a:prstGeom prst="rect">
            <a:avLst/>
          </a:prstGeom>
          <a:solidFill>
            <a:srgbClr val="4E9C56"/>
          </a:solidFill>
          <a:ln>
            <a:solidFill>
              <a:srgbClr val="4E9C5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 With AI 2026 · GDG Santa Cruz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4370832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6B65"/>
                </a:solidFill>
              </a:rPr>
              <a:t>Pitch deck actualizado · Mención Industria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EL PROBLEMA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685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Santa Cruz tiene una economía de espacios grande, pero la búsqueda sigue siendo manual.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77240" y="1965960"/>
            <a:ext cx="3657600" cy="1325880"/>
          </a:xfrm>
          <a:prstGeom prst="rect">
            <a:avLst/>
          </a:prstGeom>
          <a:solidFill>
            <a:srgbClr val="D8EFCB"/>
          </a:solidFill>
          <a:ln>
            <a:solidFill>
              <a:srgbClr val="D8EFCB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faltan ofertas.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Falta información confiable.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4800600" y="1828800"/>
            <a:ext cx="60807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21212"/>
                </a:solidFill>
              </a:rPr>
              <a:t>Locales, oficinas, depósitos, galpones y viviendas están repartidos entre portales, Facebook, WhatsApp e inmobiliarias. Cada publicación usa formatos distintos y muchas omiten metros, servicios, condiciones o uso permitido.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800600" y="3520440"/>
            <a:ext cx="52120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F3D3E"/>
                </a:solidFill>
              </a:rPr>
              <a:t>Resultado: pymes y personas pierden tiempo; agentes reciben consultas poco calificadas; el riesgo informativo sube.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MERCADO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114300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economía de espacios en Santa Cruz es casi tan grande como el agro.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Bs 15.4 mil millones · USD 2.21B · 13.3% del PIB cruceño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6400800" cy="1051560"/>
          </a:xfrm>
          <a:prstGeom prst="rect">
            <a:avLst/>
          </a:prstGeom>
          <a:solidFill>
            <a:srgbClr val="FFFDF7"/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Construcción + actividades inmobiliarias, empresariales y de alquiler. Inferencia Mita sobre INE Santa Cruz 2024.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635240" y="2907792"/>
            <a:ext cx="347472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DF7"/>
                </a:solidFill>
              </a:rPr>
              <a:t>En 2024, mientras el PIB cruceño cayó -3.05%, las actividades inmobiliarias/empresariales/alquiler crecieron +7.42% real.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SOLUCIÓN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685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 convierte publicaciones desordenadas en decisiones claras.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22960" y="2148840"/>
            <a:ext cx="438912" cy="438912"/>
          </a:xfrm>
          <a:prstGeom prst="rect">
            <a:avLst/>
          </a:prstGeom>
          <a:solidFill>
            <a:srgbClr val="4E9C56"/>
          </a:solidFill>
          <a:ln>
            <a:solidFill>
              <a:srgbClr val="4E9C56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1732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E"/>
                </a:solidFill>
              </a:rPr>
              <a:t>Importa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17320" y="2542032"/>
            <a:ext cx="18745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1212"/>
                </a:solidFill>
              </a:rPr>
              <a:t>Toma ofertas demo o fuentes permitidas y conserva trazabilidad.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11880" y="2148840"/>
            <a:ext cx="438912" cy="438912"/>
          </a:xfrm>
          <a:prstGeom prst="rect">
            <a:avLst/>
          </a:prstGeom>
          <a:solidFill>
            <a:srgbClr val="4E9C56"/>
          </a:solidFill>
          <a:ln>
            <a:solidFill>
              <a:srgbClr val="4E9C56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20624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E"/>
                </a:solidFill>
              </a:rPr>
              <a:t>Estructura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206240" y="2542032"/>
            <a:ext cx="18745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1212"/>
                </a:solidFill>
              </a:rPr>
              <a:t>La IA extrae precio, zona, metros, uso, condiciones y faltantes.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0" y="2148840"/>
            <a:ext cx="438912" cy="438912"/>
          </a:xfrm>
          <a:prstGeom prst="rect">
            <a:avLst/>
          </a:prstGeom>
          <a:solidFill>
            <a:srgbClr val="4E9C56"/>
          </a:solidFill>
          <a:ln>
            <a:solidFill>
              <a:srgbClr val="4E9C56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99516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E"/>
                </a:solidFill>
              </a:rPr>
              <a:t>Recomienda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995160" y="2542032"/>
            <a:ext cx="18745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1212"/>
                </a:solidFill>
              </a:rPr>
              <a:t>Rankea espacios según compatibilidad real con la necesidad.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89720" y="2148840"/>
            <a:ext cx="438912" cy="438912"/>
          </a:xfrm>
          <a:prstGeom prst="rect">
            <a:avLst/>
          </a:prstGeom>
          <a:solidFill>
            <a:srgbClr val="4E9C56"/>
          </a:solidFill>
          <a:ln>
            <a:solidFill>
              <a:srgbClr val="4E9C56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78408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E"/>
                </a:solidFill>
              </a:rPr>
              <a:t>Conecta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784080" y="2542032"/>
            <a:ext cx="18745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1212"/>
                </a:solidFill>
              </a:rPr>
              <a:t>Explica pros, alertas y genera contacto por WhatsApp.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14400" y="4663440"/>
            <a:ext cx="9692640" cy="685800"/>
          </a:xfrm>
          <a:prstGeom prst="rect">
            <a:avLst/>
          </a:prstGeom>
          <a:solidFill>
            <a:srgbClr val="D8EFCB"/>
          </a:solidFill>
          <a:ln>
            <a:solidFill>
              <a:srgbClr val="D8EFCB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promesa: de información dispersa a un shortlist accionable.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PRODUCTO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685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experiencia de búsqueda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65"/>
                </a:solidFill>
              </a:rPr>
              <a:t>Entrada del usuario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4206240" cy="1097280"/>
          </a:xfrm>
          <a:prstGeom prst="rect">
            <a:avLst/>
          </a:prstGeom>
          <a:solidFill>
            <a:srgbClr val="D8EFCB"/>
          </a:solidFill>
          <a:ln>
            <a:solidFill>
              <a:srgbClr val="D8EFCB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Busco un local comercial cerca de una avenida transitada, máximo 800 dólares, ideal para abrir una cafetería.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57784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65"/>
                </a:solidFill>
              </a:rPr>
              <a:t>Mita interpreta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77840" y="2176272"/>
            <a:ext cx="31089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21212"/>
                </a:solidFill>
              </a:rPr>
              <a:t>Uso: cafetería / atención al público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1212"/>
                </a:solidFill>
              </a:rPr>
              <a:t>Presupuesto: hasta 800 USD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1212"/>
                </a:solidFill>
              </a:rPr>
              <a:t>Tipo: local comercial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1212"/>
                </a:solidFill>
              </a:rPr>
              <a:t>Prioridad: visibilidad + tránsito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1212"/>
                </a:solidFill>
              </a:rPr>
              <a:t>Alertas: permisos, parqueo, servicios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05256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65"/>
                </a:solidFill>
              </a:rPr>
              <a:t>Resultado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052560" y="2176272"/>
            <a:ext cx="24231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212"/>
                </a:solidFill>
              </a:rPr>
              <a:t>94% match - avenida transitada, dentro del presupuesto.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212"/>
                </a:solidFill>
              </a:rPr>
              <a:t>86% match - buena zona, falta confirmar parqueo.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212"/>
                </a:solidFill>
              </a:rPr>
              <a:t>72% match - oficina adaptable, menor visibilidad.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011680" y="4800600"/>
            <a:ext cx="8046720" cy="685800"/>
          </a:xfrm>
          <a:prstGeom prst="rect">
            <a:avLst/>
          </a:prstGeom>
          <a:solidFill>
            <a:srgbClr val="0F3D3E"/>
          </a:solidFill>
          <a:ln>
            <a:solidFill>
              <a:srgbClr val="0F3D3E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 no solo muestra resultados: explica por qué convienen.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MOTOR 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685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hace la IA detrás de Mita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</a:rPr>
              <a:t>Normaliza publicaciones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383280" y="1764792"/>
            <a:ext cx="6949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212"/>
                </a:solidFill>
              </a:rPr>
              <a:t>Convierte texto informal en JSON de propiedad y uso.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</a:rPr>
              <a:t>Extrae intención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383280" y="2450592"/>
            <a:ext cx="6949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212"/>
                </a:solidFill>
              </a:rPr>
              <a:t>Detecta tipo de espacio, presupuesto, zona, uso y prioridades.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3154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</a:rPr>
              <a:t>Rankea por compatibilidad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383280" y="3136392"/>
            <a:ext cx="6949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212"/>
                </a:solidFill>
              </a:rPr>
              <a:t>Combina filtros duros, preferencias y faltantes.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</a:rPr>
              <a:t>Explica decisiones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383280" y="3822192"/>
            <a:ext cx="6949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212"/>
                </a:solidFill>
              </a:rPr>
              <a:t>Genera pros, contras, alertas y recomendación final.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8680" y="4526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</a:rPr>
              <a:t>Reduce fricción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383280" y="4507992"/>
            <a:ext cx="6949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212"/>
                </a:solidFill>
              </a:rPr>
              <a:t>Mide campos faltantes y riesgo informativo.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97280" y="5486400"/>
            <a:ext cx="8503920" cy="502920"/>
          </a:xfrm>
          <a:prstGeom prst="rect">
            <a:avLst/>
          </a:prstGeom>
          <a:solidFill>
            <a:srgbClr val="D8EFCB"/>
          </a:solidFill>
          <a:ln>
            <a:solidFill>
              <a:srgbClr val="D8EFCB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transforma caos inmobiliario en datos accionables.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POR QUÉ SANTA CRUZ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1005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diferencial es local y productivo.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057400"/>
            <a:ext cx="6400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FFDF7"/>
                </a:solidFill>
              </a:rPr>
              <a:t>Santa Cruz concentra cerca del 30% de la base empresarial boliviana y lideró nuevas inscripciones empresariales en 2024.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60120" y="2743200"/>
            <a:ext cx="70408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Zonas calientes: zona norte + Equipetrol concentran 70% de transacciones reportadas; zona norte aporta 48%.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Pipeline visible: 125 edificios metropolitanos en distintas etapas de construcción a fines de 2023.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Uso real: oficinas, locales, depósitos, galpones, talleres, vivienda y espacios mixtos.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001000" y="2514600"/>
            <a:ext cx="3200400" cy="1417320"/>
          </a:xfrm>
          <a:prstGeom prst="rect">
            <a:avLst/>
          </a:prstGeom>
          <a:solidFill>
            <a:srgbClr val="FFFDF7"/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portal genérico lista inmuebles.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 entiende para qué sirve el espacio.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MODELO DE NEGOCIO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685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Gratis para usuarios. Valor pago para agentes e inmobiliarias.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68680" y="2057400"/>
            <a:ext cx="2834640" cy="914400"/>
          </a:xfrm>
          <a:prstGeom prst="rect">
            <a:avLst/>
          </a:prstGeom>
          <a:solidFill>
            <a:srgbClr val="D8EFCB"/>
          </a:solidFill>
          <a:ln>
            <a:solidFill>
              <a:srgbClr val="D8EFCB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 final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 gratis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160520" y="2057400"/>
            <a:ext cx="3108960" cy="914400"/>
          </a:xfrm>
          <a:prstGeom prst="rect">
            <a:avLst/>
          </a:prstGeom>
          <a:solidFill>
            <a:srgbClr val="FFFDF7"/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/ inmobiliaria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Recibe leads calificados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818120" y="2057400"/>
            <a:ext cx="2926080" cy="914400"/>
          </a:xfrm>
          <a:prstGeom prst="rect">
            <a:avLst/>
          </a:prstGeom>
          <a:solidFill>
            <a:srgbClr val="0F3D3E"/>
          </a:solidFill>
          <a:ln>
            <a:solidFill>
              <a:srgbClr val="0F3D3E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 Pro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Automatiza ventas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1005840" y="3886200"/>
            <a:ext cx="99669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21212"/>
                </a:solidFill>
              </a:rPr>
              <a:t>SAM digital Santa Cruz estimado: USD 0.6M - 4.7M/año vía SaaS para agentes, leads calificados, mejora de publicaciones y analítica.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5166360"/>
            <a:ext cx="8503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3D3E"/>
                </a:solidFill>
              </a:rPr>
              <a:t>El inventario atrae usuarios; la intención genera leads; los leads justifican suscripción y performance.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GO-TO-MARKET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685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empezar con foco y evidencia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61264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21212"/>
                </a:solidFill>
              </a:rPr>
              <a:t>1. Dataset curado de 50-150 espacios: locales, oficinas, depósitos, galpones y vivienda.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1212"/>
                </a:solidFill>
              </a:rPr>
              <a:t>2. Demo con caso comercial: cafetería, depósito o taller, no solo departamento.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1212"/>
                </a:solidFill>
              </a:rPr>
              <a:t>3. Pilotos con 3-5 agentes/inmobiliarias: menos mensajes fríos, más leads listos.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1212"/>
                </a:solidFill>
              </a:rPr>
              <a:t>4. Distribución en Facebook, WhatsApp, grupos de emprendedores y agentes locales.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1212"/>
                </a:solidFill>
              </a:rPr>
              <a:t>5. Medir búsquedas, match útil, clics a WhatsApp, leads y campos faltantes.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498080" y="2103120"/>
            <a:ext cx="3520440" cy="1417320"/>
          </a:xfrm>
          <a:prstGeom prst="rect">
            <a:avLst/>
          </a:prstGeom>
          <a:solidFill>
            <a:srgbClr val="D8EFCB"/>
          </a:solidFill>
          <a:ln>
            <a:solidFill>
              <a:srgbClr val="D8EFCB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 a agentes: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“Más leads calificados con menos ida y vuelta.”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498080" y="3931920"/>
            <a:ext cx="3520440" cy="1143000"/>
          </a:xfrm>
          <a:prstGeom prst="rect">
            <a:avLst/>
          </a:prstGeom>
          <a:solidFill>
            <a:srgbClr val="0F3D3E"/>
          </a:solidFill>
          <a:ln>
            <a:solidFill>
              <a:srgbClr val="0F3D3E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 a usuarios: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“Dile a Mita qué espacio necesitas. Te muestra opciones claras.”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VENTAJA COMPETITIVA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685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puede ganar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91440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3D3E"/>
                </a:solidFill>
              </a:rPr>
              <a:t>Conocimiento local: zonas, lenguaje y condiciones reales de Santa Cruz.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2560320"/>
            <a:ext cx="5394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3D3E"/>
                </a:solidFill>
              </a:rPr>
              <a:t>Modelo de datos mixto: vivienda + espacios comerciales, productivos y logísticos.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4846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3D3E"/>
                </a:solidFill>
              </a:rPr>
              <a:t>Ranking explicable: no solo filtra, recomienda y justifica.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5669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3D3E"/>
                </a:solidFill>
              </a:rPr>
              <a:t>Trust Friction Index: mide incompletitud, fuente, comparación y compatibilidad.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720840" y="2057400"/>
            <a:ext cx="3931920" cy="1508760"/>
          </a:xfrm>
          <a:prstGeom prst="rect">
            <a:avLst/>
          </a:prstGeom>
          <a:solidFill>
            <a:srgbClr val="D8EFCB"/>
          </a:solidFill>
          <a:ln>
            <a:solidFill>
              <a:srgbClr val="D8EFCB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 no compite por ser otro portal.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Compite por ser la capa IA que entiende intención, riesgo y uso del espacio.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DEMO BUILD WITH AI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960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que vamos a mostrar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1874520"/>
            <a:ext cx="521208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FFDF7"/>
                </a:solidFill>
              </a:rPr>
              <a:t>Normalización IA de publicación incompleta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DF7"/>
                </a:solidFill>
              </a:rPr>
              <a:t>Búsqueda conversacional por necesidad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DF7"/>
                </a:solidFill>
              </a:rPr>
              <a:t>Ranking de espacios por match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DF7"/>
                </a:solidFill>
              </a:rPr>
              <a:t>Pros, contras y alertas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DF7"/>
                </a:solidFill>
              </a:rPr>
              <a:t>Comparador entre opciones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DF7"/>
                </a:solidFill>
              </a:rPr>
              <a:t>Botón de WhatsApp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DF7"/>
                </a:solidFill>
              </a:rPr>
              <a:t>Modo agente: mejorar publicación con IA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766560" y="2057400"/>
            <a:ext cx="3840480" cy="1371600"/>
          </a:xfrm>
          <a:prstGeom prst="rect">
            <a:avLst/>
          </a:prstGeom>
          <a:solidFill>
            <a:srgbClr val="FFFDF7"/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clave: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“¿Cuál me conviene más para abrir una cafetería pequeña y necesito buena visibilidad?”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766560" y="3749040"/>
            <a:ext cx="3749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La respuesta debe explicar ubicación, presupuesto, tránsito, permisos, faltantes y trade-offs.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960120"/>
            <a:ext cx="237744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20440" y="1325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3566160" y="21488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1212"/>
                </a:solidFill>
              </a:rPr>
              <a:t>La próxima búsqueda de un espacio empieza con una conversación.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3566160" y="3337560"/>
            <a:ext cx="5715000" cy="640080"/>
          </a:xfrm>
          <a:prstGeom prst="rect">
            <a:avLst/>
          </a:prstGeom>
          <a:solidFill>
            <a:srgbClr val="0F3D3E"/>
          </a:solidFill>
          <a:ln>
            <a:solidFill>
              <a:srgbClr val="0F3D3E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 convierte publicaciones desordenadas en decisiones claras.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3566160" y="4617720"/>
            <a:ext cx="64008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D6B65"/>
                </a:solidFill>
              </a:rPr>
              <a:t>Cierre de pitch: “No somos otro portal inmobiliario. Somos el agente IA que entiende qué espacio necesitas y te ayuda a decidir.”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Mita pitch deck actualizado</dc:title>
  <dc:subject>Build With AI 2026 - Mención Industria</dc:subject>
  <dc:creator>Daniel Cueto + ChatGPT</dc:creator>
  <cp:lastModifiedBy>Daniel Cueto + ChatGPT</cp:lastModifiedBy>
  <cp:revision>1</cp:revision>
  <dcterms:created xsi:type="dcterms:W3CDTF">2026-05-29T04:43:48Z</dcterms:created>
  <dcterms:modified xsi:type="dcterms:W3CDTF">2026-05-29T04:43:48Z</dcterms:modified>
</cp:coreProperties>
</file>